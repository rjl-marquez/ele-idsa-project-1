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4577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Calibri"/>
              </a:rPr>
              <a:t>Why Buses Bunch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9814255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200">
                <a:solidFill>
                  <a:srgbClr val="CDE2FB"/>
                </a:solidFill>
                <a:latin typeface="Calibri"/>
              </a:rPr>
              <a:t>The Relationship Between Passenger Demand and Bus Bunching on CapMetro Rapid Route 801, July–December 2021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45775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Calibri"/>
              </a:rPr>
              <a:t>ELE IDSA Project 1 · GEC2B  ·  Instructor: Ezron John D. Cabrera</a:t>
            </a:r>
          </a:p>
          <a:p>
            <a:r>
              <a:rPr sz="1600">
                <a:solidFill>
                  <a:srgbClr val="9EC5F4"/>
                </a:solidFill>
                <a:latin typeface="Calibri"/>
              </a:rPr>
              <a:t>Rence Marquez, Khalil Badal, Elijah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[Section pending: Elijah]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CapMetro</a:t>
            </a:r>
            <a:r>
              <a:rPr sz="2000">
                <a:solidFill>
                  <a:srgbClr val="0B0B0B"/>
                </a:solidFill>
                <a:latin typeface="Calibri"/>
              </a:rPr>
              <a:t> (Austin, Texas) </a:t>
            </a:r>
            <a:r>
              <a:rPr sz="2000" i="1">
                <a:solidFill>
                  <a:srgbClr val="0B0B0B"/>
                </a:solidFill>
                <a:latin typeface="Calibri"/>
              </a:rPr>
              <a:t>APC Raw July–December 2021</a:t>
            </a:r>
            <a:r>
              <a:rPr sz="2000">
                <a:solidFill>
                  <a:srgbClr val="0B0B0B"/>
                </a:solidFill>
                <a:latin typeface="Calibri"/>
              </a:rPr>
              <a:t>, Texas Open Data Portal (</a:t>
            </a:r>
            <a:r>
              <a:rPr sz="2000">
                <a:solidFill>
                  <a:srgbClr val="0B0B0B"/>
                </a:solidFill>
                <a:latin typeface="Calibri"/>
              </a:rPr>
              <a:t>im6q-3pc9</a:t>
            </a:r>
            <a:r>
              <a:rPr sz="2000">
                <a:solidFill>
                  <a:srgbClr val="0B0B0B"/>
                </a:solidFill>
                <a:latin typeface="Calibri"/>
              </a:rPr>
              <a:t>), free to download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APC</a:t>
            </a:r>
            <a:r>
              <a:rPr sz="2000">
                <a:solidFill>
                  <a:srgbClr val="0B0B0B"/>
                </a:solidFill>
                <a:latin typeface="Calibri"/>
              </a:rPr>
              <a:t> = automatic passenger counters: door sensors count boardings and alightings; GPS and clock record each stop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One row = one bus at one stop</a:t>
            </a:r>
            <a:r>
              <a:rPr sz="2000">
                <a:solidFill>
                  <a:srgbClr val="0B0B0B"/>
                </a:solidFill>
                <a:latin typeface="Calibri"/>
              </a:rPr>
              <a:t>; raw file: 9,197,694 rows × 47 columns, all routes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Study subset:</a:t>
            </a:r>
            <a:r>
              <a:rPr sz="2000">
                <a:solidFill>
                  <a:srgbClr val="0B0B0B"/>
                </a:solidFill>
                <a:latin typeface="Calibri"/>
              </a:rPr>
              <a:t> Route 801 southbound, Jul 1 – Dec 30, 2021: 229,421 records, 29 stops, 143 buses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Tools:</a:t>
            </a:r>
            <a:r>
              <a:rPr sz="2000">
                <a:solidFill>
                  <a:srgbClr val="0B0B0B"/>
                </a:solidFill>
                <a:latin typeface="Calibri"/>
              </a:rPr>
              <a:t> Python (pandas, Matplotlib, SciPy, statsmodels)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Parameters used to segregate 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09441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Values used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Route / direction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801, southbound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Study route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Jul 1 – Dec 30, 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Full coverage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Day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Weekday / weekend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Demand patterns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Analysis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Weekdays 7:00–17:59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Buses scheduled every 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Hour of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0–23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Demand by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Stop order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1 (first) to 29 (last)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Position on the route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Headway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0–5, 5–10, 10–15, 15–20, 20+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Close vs far-apart buses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Data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>
                <a:solidFill>
                  <a:srgbClr val="52514E"/>
                </a:solidFill>
                <a:latin typeface="Calibri"/>
              </a:rPr>
              <a:t>Records kept only if they pass all six filtering rules: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11680"/>
          <a:ext cx="1109441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Records left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All routes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9,197,694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Route 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547,616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Bus serving its assigned route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524,728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3–4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No error flags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480,452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Valid stop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455,654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Southbound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229,421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Dwell time before and after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fig01_dwell_clea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264217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35040"/>
            <a:ext cx="749807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>
                <a:solidFill>
                  <a:srgbClr val="52514E"/>
                </a:solidFill>
                <a:latin typeface="Calibri"/>
              </a:rPr>
              <a:t>Figure 1. Dwell time before and after cleaning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59" y="1554480"/>
            <a:ext cx="3276295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End stops (1, 29):</a:t>
            </a:r>
            <a:r>
              <a:rPr sz="1600">
                <a:solidFill>
                  <a:srgbClr val="0B0B0B"/>
                </a:solidFill>
                <a:latin typeface="Calibri"/>
              </a:rPr>
              <a:t> layovers, not service; 17,659 records left out of dwell and headway analysis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Invalid values:</a:t>
            </a:r>
            <a:r>
              <a:rPr sz="1600">
                <a:solidFill>
                  <a:srgbClr val="0B0B0B"/>
                </a:solidFill>
                <a:latin typeface="Calibri"/>
              </a:rPr>
              <a:t> &gt;40 boardings at one stop, or dwell &gt;10 min, marked missing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Imputation:</a:t>
            </a:r>
            <a:r>
              <a:rPr sz="1600">
                <a:solidFill>
                  <a:srgbClr val="0B0B0B"/>
                </a:solidFill>
                <a:latin typeface="Calibri"/>
              </a:rPr>
              <a:t> median of the same stop and hour (414 values, &lt;0.2%)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Headways</a:t>
            </a:r>
            <a:r>
              <a:rPr sz="1600">
                <a:solidFill>
                  <a:srgbClr val="0B0B0B"/>
                </a:solidFill>
                <a:latin typeface="Calibri"/>
              </a:rPr>
              <a:t> kept only between buses scheduled 10 min apart, so unrecorded trips don't create fake gaps (51,437 valid)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Ridership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[Section pending: Elijah]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Average weekday boardings by stop and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8</a:t>
            </a:r>
          </a:p>
        </p:txBody>
      </p:sp>
      <p:pic>
        <p:nvPicPr>
          <p:cNvPr id="7" name="Picture 6" descr="fig02_boardings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302572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35040"/>
            <a:ext cx="749807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>
                <a:solidFill>
                  <a:srgbClr val="52514E"/>
                </a:solidFill>
                <a:latin typeface="Calibri"/>
              </a:rPr>
              <a:t>Figure 2. Average weekday boardings by stop and hour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59" y="1554480"/>
            <a:ext cx="3276295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Stop 1</a:t>
            </a:r>
            <a:r>
              <a:rPr sz="1600">
                <a:solidFill>
                  <a:srgbClr val="0B0B0B"/>
                </a:solidFill>
                <a:latin typeface="Calibri"/>
              </a:rPr>
              <a:t> is busiest: about 429 boardings per weekday, peaking 7:00–10:00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Stop 5</a:t>
            </a:r>
            <a:r>
              <a:rPr sz="1600">
                <a:solidFill>
                  <a:srgbClr val="0B0B0B"/>
                </a:solidFill>
                <a:latin typeface="Calibri"/>
              </a:rPr>
              <a:t> peaks in the morning; </a:t>
            </a:r>
            <a:r>
              <a:rPr sz="1600" b="1">
                <a:solidFill>
                  <a:srgbClr val="0B0B0B"/>
                </a:solidFill>
                <a:latin typeface="Calibri"/>
              </a:rPr>
              <a:t>stop 19</a:t>
            </a:r>
            <a:r>
              <a:rPr sz="1600">
                <a:solidFill>
                  <a:srgbClr val="0B0B0B"/>
                </a:solidFill>
                <a:latin typeface="Calibri"/>
              </a:rPr>
              <a:t> in the afternoon (15:00–17:00)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Most stops after stop 20 have few boardings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Demand is very uneven across stops and hours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Hypothesis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[Section pending: Khalil]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[Section pending: Khalil]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