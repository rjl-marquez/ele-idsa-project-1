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Why Buses Bunch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81425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>
                <a:solidFill>
                  <a:srgbClr val="CDE2FB"/>
                </a:solidFill>
                <a:latin typeface="Calibri"/>
              </a:rPr>
              <a:t>The Relationship Between Passenger Demand and Bus Bunching on CapMetro Rapid Route 801, July–December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45775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ELE IDSA Project 1 · GEC2B · Group 10  ·  Instructor: Ezron John D. Cabrera</a:t>
            </a:r>
          </a:p>
          <a:p>
            <a:r>
              <a:rPr sz="1600">
                <a:solidFill>
                  <a:srgbClr val="9EC5F4"/>
                </a:solidFill>
                <a:latin typeface="Calibri"/>
              </a:rPr>
              <a:t>Badal, Khalil, Lopez, Elijah David, Marquez, Rence Joseph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Data:</a:t>
            </a:r>
            <a:r>
              <a:rPr sz="2000">
                <a:solidFill>
                  <a:srgbClr val="0B0B0B"/>
                </a:solidFill>
                <a:latin typeface="Calibri"/>
              </a:rPr>
              <a:t> CapMetro (Austin, Texas) automatic passenger counter (APC) records, Texas Open Data Portal, free and public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Route 801 (CapMetro Rapid):</a:t>
            </a:r>
            <a:r>
              <a:rPr sz="2000">
                <a:solidFill>
                  <a:srgbClr val="0B0B0B"/>
                </a:solidFill>
                <a:latin typeface="Calibri"/>
              </a:rPr>
              <a:t> scheduled every </a:t>
            </a:r>
            <a:r>
              <a:rPr sz="2000" b="1">
                <a:solidFill>
                  <a:srgbClr val="0B0B0B"/>
                </a:solidFill>
                <a:latin typeface="Calibri"/>
              </a:rPr>
              <a:t>10 minutes</a:t>
            </a:r>
            <a:r>
              <a:rPr sz="2000">
                <a:solidFill>
                  <a:srgbClr val="0B0B0B"/>
                </a:solidFill>
                <a:latin typeface="Calibri"/>
              </a:rPr>
              <a:t> on weekdays 7:00–18:00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Bus bunching:</a:t>
            </a:r>
            <a:r>
              <a:rPr sz="2000">
                <a:solidFill>
                  <a:srgbClr val="0B0B0B"/>
                </a:solidFill>
                <a:latin typeface="Calibri"/>
              </a:rPr>
              <a:t> buses lose their even spacing and arrive in pairs, then a long gap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A late bus finds more riders, dwells longer and falls further behind, while the bus behind catches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Motivation and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Bunching makes riders wait longer and crowds some buses while others run nearly empty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The dataset is large (229,421 stop records), real and stop-level, so bunching can be measured directly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H1:</a:t>
            </a:r>
            <a:r>
              <a:rPr sz="2000">
                <a:solidFill>
                  <a:srgbClr val="0B0B0B"/>
                </a:solidFill>
                <a:latin typeface="Calibri"/>
              </a:rPr>
              <a:t> Buses with a longer gap behind the bus ahead (headway) carry more passengers.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H2:</a:t>
            </a:r>
            <a:r>
              <a:rPr sz="2000">
                <a:solidFill>
                  <a:srgbClr val="0B0B0B"/>
                </a:solidFill>
                <a:latin typeface="Calibri"/>
              </a:rPr>
              <a:t> The more people board and alight, the longer the bus stays at the stop (dwell time).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H3:</a:t>
            </a:r>
            <a:r>
              <a:rPr sz="2000">
                <a:solidFill>
                  <a:srgbClr val="0B0B0B"/>
                </a:solidFill>
                <a:latin typeface="Calibri"/>
              </a:rPr>
              <a:t> Headways become more irregular further along the route (bunching builds up).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CapMetro</a:t>
            </a:r>
            <a:r>
              <a:rPr sz="2000">
                <a:solidFill>
                  <a:srgbClr val="0B0B0B"/>
                </a:solidFill>
                <a:latin typeface="Calibri"/>
              </a:rPr>
              <a:t> (Austin, Texas) </a:t>
            </a:r>
            <a:r>
              <a:rPr sz="2000" i="1">
                <a:solidFill>
                  <a:srgbClr val="0B0B0B"/>
                </a:solidFill>
                <a:latin typeface="Calibri"/>
              </a:rPr>
              <a:t>APC Raw July–December 2021</a:t>
            </a:r>
            <a:r>
              <a:rPr sz="2000">
                <a:solidFill>
                  <a:srgbClr val="0B0B0B"/>
                </a:solidFill>
                <a:latin typeface="Calibri"/>
              </a:rPr>
              <a:t>, Texas Open Data Portal (</a:t>
            </a:r>
            <a:r>
              <a:rPr sz="2000">
                <a:solidFill>
                  <a:srgbClr val="0B0B0B"/>
                </a:solidFill>
                <a:latin typeface="Calibri"/>
              </a:rPr>
              <a:t>im6q-3pc9</a:t>
            </a:r>
            <a:r>
              <a:rPr sz="2000">
                <a:solidFill>
                  <a:srgbClr val="0B0B0B"/>
                </a:solidFill>
                <a:latin typeface="Calibri"/>
              </a:rPr>
              <a:t>), free to download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APC</a:t>
            </a:r>
            <a:r>
              <a:rPr sz="2000">
                <a:solidFill>
                  <a:srgbClr val="0B0B0B"/>
                </a:solidFill>
                <a:latin typeface="Calibri"/>
              </a:rPr>
              <a:t> = automatic passenger counters: door sensors count boardings and alightings; GPS and clock record each stop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One row = one bus at one stop</a:t>
            </a:r>
            <a:r>
              <a:rPr sz="2000">
                <a:solidFill>
                  <a:srgbClr val="0B0B0B"/>
                </a:solidFill>
                <a:latin typeface="Calibri"/>
              </a:rPr>
              <a:t>; raw file: 9,197,694 rows × 47 columns, all routes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Study subset:</a:t>
            </a:r>
            <a:r>
              <a:rPr sz="2000">
                <a:solidFill>
                  <a:srgbClr val="0B0B0B"/>
                </a:solidFill>
                <a:latin typeface="Calibri"/>
              </a:rPr>
              <a:t> Route 801 southbound, Jul 1 – Dec 30, 2021: 229,421 records, 29 stops, 143 buses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Tools:</a:t>
            </a:r>
            <a:r>
              <a:rPr sz="2000">
                <a:solidFill>
                  <a:srgbClr val="0B0B0B"/>
                </a:solidFill>
                <a:latin typeface="Calibri"/>
              </a:rPr>
              <a:t> Python (pandas, Matplotlib, SciPy, statsmodels)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Parameters used to segregate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9441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Values used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Route /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801, southbound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Study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Jul 1 – Dec 30,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Full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Day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Weekday / weekend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Demand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Analysis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Weekdays 7:00–17:59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Buses scheduled every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Hour of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0–23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Demand by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Stop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 (first) to 29 (last)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Position on the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Headway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0–5, 5–10, 10–15, 15–20, 20+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Close vs far-apart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>
                <a:solidFill>
                  <a:srgbClr val="52514E"/>
                </a:solidFill>
                <a:latin typeface="Calibri"/>
              </a:rPr>
              <a:t>Records kept only if they pass all six filtering rules: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Records left</a:t>
                      </a:r>
                    </a:p>
                  </a:txBody>
                  <a:tcPr>
                    <a:solidFill>
                      <a:srgbClr val="DCE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All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9,197,694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Route 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547,616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Bus serving its assigned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524,728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No error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480,452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Valid stop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455,654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Calibri"/>
                        </a:rPr>
                        <a:t>Southbound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229,421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Dwell time before and after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fig01_dwell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264217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1. Dwell time before and after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End stops (1, 29):</a:t>
            </a:r>
            <a:r>
              <a:rPr sz="1600">
                <a:solidFill>
                  <a:srgbClr val="0B0B0B"/>
                </a:solidFill>
                <a:latin typeface="Calibri"/>
              </a:rPr>
              <a:t> layovers, not service; 17,659 records left out of dwell and headway analysis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Invalid values:</a:t>
            </a:r>
            <a:r>
              <a:rPr sz="1600">
                <a:solidFill>
                  <a:srgbClr val="0B0B0B"/>
                </a:solidFill>
                <a:latin typeface="Calibri"/>
              </a:rPr>
              <a:t> &gt;40 boardings at one stop, or dwell &gt;10 min, marked missing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Imputation:</a:t>
            </a:r>
            <a:r>
              <a:rPr sz="1600">
                <a:solidFill>
                  <a:srgbClr val="0B0B0B"/>
                </a:solidFill>
                <a:latin typeface="Calibri"/>
              </a:rPr>
              <a:t> median of the same stop and hour (414 values, &lt;0.2%)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Headways</a:t>
            </a:r>
            <a:r>
              <a:rPr sz="1600">
                <a:solidFill>
                  <a:srgbClr val="0B0B0B"/>
                </a:solidFill>
                <a:latin typeface="Calibri"/>
              </a:rPr>
              <a:t> kept only between buses scheduled 10 min apart, so unrecorded trips don't create fake gaps (51,437 valid)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Boardings by hour of day, weekdays vs weekends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fig03_boarding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4112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1354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2. Boardings by hour of day, weekdays vs weekends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Weekday peaks: </a:t>
            </a:r>
            <a:r>
              <a:rPr sz="1600" b="1">
                <a:solidFill>
                  <a:srgbClr val="0B0B0B"/>
                </a:solidFill>
                <a:latin typeface="Calibri"/>
              </a:rPr>
              <a:t>9:00 (195.9)</a:t>
            </a:r>
            <a:r>
              <a:rPr sz="1600">
                <a:solidFill>
                  <a:srgbClr val="0B0B0B"/>
                </a:solidFill>
                <a:latin typeface="Calibri"/>
              </a:rPr>
              <a:t> and </a:t>
            </a:r>
            <a:r>
              <a:rPr sz="1600" b="1">
                <a:solidFill>
                  <a:srgbClr val="0B0B0B"/>
                </a:solidFill>
                <a:latin typeface="Calibri"/>
              </a:rPr>
              <a:t>16:00 (175.9)</a:t>
            </a:r>
            <a:r>
              <a:rPr sz="1600">
                <a:solidFill>
                  <a:srgbClr val="0B0B0B"/>
                </a:solidFill>
                <a:latin typeface="Calibri"/>
              </a:rPr>
              <a:t>, matching the commute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Weekend peak: </a:t>
            </a:r>
            <a:r>
              <a:rPr sz="1600" b="1">
                <a:solidFill>
                  <a:srgbClr val="0B0B0B"/>
                </a:solidFill>
                <a:latin typeface="Calibri"/>
              </a:rPr>
              <a:t>15:00 (124.6)</a:t>
            </a:r>
            <a:r>
              <a:rPr sz="1600">
                <a:solidFill>
                  <a:srgbClr val="0B0B0B"/>
                </a:solidFill>
                <a:latin typeface="Calibri"/>
              </a:rPr>
              <a:t>, 36% lower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2,514</a:t>
            </a:r>
            <a:r>
              <a:rPr sz="1600">
                <a:solidFill>
                  <a:srgbClr val="0B0B0B"/>
                </a:solidFill>
                <a:latin typeface="Calibri"/>
              </a:rPr>
              <a:t> boardings per weekday vs </a:t>
            </a:r>
            <a:r>
              <a:rPr sz="1600" b="1">
                <a:solidFill>
                  <a:srgbClr val="0B0B0B"/>
                </a:solidFill>
                <a:latin typeface="Calibri"/>
              </a:rPr>
              <a:t>1,728</a:t>
            </a:r>
            <a:r>
              <a:rPr sz="1600">
                <a:solidFill>
                  <a:srgbClr val="0B0B0B"/>
                </a:solidFill>
                <a:latin typeface="Calibri"/>
              </a:rPr>
              <a:t> per weekend day (+45%)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Total boardings per day, July–December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ig04_daily_boar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3949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903697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3. Total boardings per day, July–December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Busiest month: </a:t>
            </a:r>
            <a:r>
              <a:rPr sz="1600" b="1">
                <a:solidFill>
                  <a:srgbClr val="0B0B0B"/>
                </a:solidFill>
                <a:latin typeface="Calibri"/>
              </a:rPr>
              <a:t>October</a:t>
            </a:r>
            <a:r>
              <a:rPr sz="1600">
                <a:solidFill>
                  <a:srgbClr val="0B0B0B"/>
                </a:solidFill>
                <a:latin typeface="Calibri"/>
              </a:rPr>
              <a:t> (3,025 per weekday)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Thanksgiving:</a:t>
            </a:r>
            <a:r>
              <a:rPr sz="1600">
                <a:solidFill>
                  <a:srgbClr val="0B0B0B"/>
                </a:solidFill>
                <a:latin typeface="Calibri"/>
              </a:rPr>
              <a:t> 1,146 boardings, less than half a normal weekday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Christmas Day:</a:t>
            </a:r>
            <a:r>
              <a:rPr sz="1600">
                <a:solidFill>
                  <a:srgbClr val="0B0B0B"/>
                </a:solidFill>
                <a:latin typeface="Calibri"/>
              </a:rPr>
              <a:t> 871, the lowest day overall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Distribution of headways, weekdays 7:00–17:59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ig05_headwa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4159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8307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4. Distribution of headways, weekdays 7:00–17:59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Median headway </a:t>
            </a:r>
            <a:r>
              <a:rPr sz="1600" b="1">
                <a:solidFill>
                  <a:srgbClr val="0B0B0B"/>
                </a:solidFill>
                <a:latin typeface="Calibri"/>
              </a:rPr>
              <a:t>11.0 min</a:t>
            </a:r>
            <a:r>
              <a:rPr sz="1600">
                <a:solidFill>
                  <a:srgbClr val="0B0B0B"/>
                </a:solidFill>
                <a:latin typeface="Calibri"/>
              </a:rPr>
              <a:t> (scheduled 10)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5.7%</a:t>
            </a:r>
            <a:r>
              <a:rPr sz="1600">
                <a:solidFill>
                  <a:srgbClr val="0B0B0B"/>
                </a:solidFill>
                <a:latin typeface="Calibri"/>
              </a:rPr>
              <a:t> bunched (&lt;3 min), </a:t>
            </a:r>
            <a:r>
              <a:rPr sz="1600" b="1">
                <a:solidFill>
                  <a:srgbClr val="0B0B0B"/>
                </a:solidFill>
                <a:latin typeface="Calibri"/>
              </a:rPr>
              <a:t>10.3%</a:t>
            </a:r>
            <a:r>
              <a:rPr sz="1600">
                <a:solidFill>
                  <a:srgbClr val="0B0B0B"/>
                </a:solidFill>
                <a:latin typeface="Calibri"/>
              </a:rPr>
              <a:t> long gaps (&gt;20 min)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About </a:t>
            </a:r>
            <a:r>
              <a:rPr sz="1600" b="1">
                <a:solidFill>
                  <a:srgbClr val="0B0B0B"/>
                </a:solidFill>
                <a:latin typeface="Calibri"/>
              </a:rPr>
              <a:t>1 in 6</a:t>
            </a:r>
            <a:r>
              <a:rPr sz="1600">
                <a:solidFill>
                  <a:srgbClr val="0B0B0B"/>
                </a:solidFill>
                <a:latin typeface="Calibri"/>
              </a:rPr>
              <a:t> arrivals is bunched or a long gap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Average weekday boardings by stop and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ig02_boarding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30257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5. Average weekday boardings by stop and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Stop 1</a:t>
            </a:r>
            <a:r>
              <a:rPr sz="1600">
                <a:solidFill>
                  <a:srgbClr val="0B0B0B"/>
                </a:solidFill>
                <a:latin typeface="Calibri"/>
              </a:rPr>
              <a:t> is busiest: about 442 boardings per weekday, peaking 7:00–10:00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Stop 5</a:t>
            </a:r>
            <a:r>
              <a:rPr sz="1600">
                <a:solidFill>
                  <a:srgbClr val="0B0B0B"/>
                </a:solidFill>
                <a:latin typeface="Calibri"/>
              </a:rPr>
              <a:t> peaks in the morning; </a:t>
            </a:r>
            <a:r>
              <a:rPr sz="1600" b="1">
                <a:solidFill>
                  <a:srgbClr val="0B0B0B"/>
                </a:solidFill>
                <a:latin typeface="Calibri"/>
              </a:rPr>
              <a:t>stop 19</a:t>
            </a:r>
            <a:r>
              <a:rPr sz="1600">
                <a:solidFill>
                  <a:srgbClr val="0B0B0B"/>
                </a:solidFill>
                <a:latin typeface="Calibri"/>
              </a:rPr>
              <a:t> in the afternoon (15:00–17:00)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Most stops after stop 20 have few boardings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B0B"/>
                </a:solidFill>
                <a:latin typeface="Calibri"/>
              </a:rPr>
              <a:t>•  Demand is very uneven across stops and hours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H1: Passengers on board by headway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>
                <a:solidFill>
                  <a:srgbClr val="52514E"/>
                </a:solidFill>
                <a:latin typeface="Calibri"/>
              </a:rPr>
              <a:t>All tests: weekdays 7:00–17:59, 126,070 stop events, 131 service days, </a:t>
            </a:r>
            <a:r>
              <a:rPr sz="1400" b="1">
                <a:solidFill>
                  <a:srgbClr val="52514E"/>
                </a:solidFill>
                <a:latin typeface="Calibri"/>
              </a:rPr>
              <a:t>alpha = 0.05</a:t>
            </a:r>
            <a:r>
              <a:rPr sz="1400">
                <a:solidFill>
                  <a:srgbClr val="52514E"/>
                </a:solidFill>
                <a:latin typeface="Calibri"/>
              </a:rPr>
              <a:t>.</a:t>
            </a:r>
          </a:p>
        </p:txBody>
      </p:sp>
      <p:pic>
        <p:nvPicPr>
          <p:cNvPr id="8" name="Picture 7" descr="fig06_h1_load_vs_head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302314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035040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6. H1: Passengers on board by headway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1874519"/>
            <a:ext cx="3276295" cy="4251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Mean load doubles as the gap grows: </a:t>
            </a:r>
            <a:r>
              <a:rPr sz="1400" b="1">
                <a:solidFill>
                  <a:srgbClr val="0B0B0B"/>
                </a:solidFill>
                <a:latin typeface="Calibri"/>
              </a:rPr>
              <a:t>9.1 passengers</a:t>
            </a:r>
            <a:r>
              <a:rPr sz="1400">
                <a:solidFill>
                  <a:srgbClr val="0B0B0B"/>
                </a:solidFill>
                <a:latin typeface="Calibri"/>
              </a:rPr>
              <a:t> (0–5 min) → 11.0 → 13.4 → 15.8 → </a:t>
            </a:r>
            <a:r>
              <a:rPr sz="1400" b="1">
                <a:solidFill>
                  <a:srgbClr val="0B0B0B"/>
                </a:solidFill>
                <a:latin typeface="Calibri"/>
              </a:rPr>
              <a:t>17.9</a:t>
            </a:r>
            <a:r>
              <a:rPr sz="1400">
                <a:solidFill>
                  <a:srgbClr val="0B0B0B"/>
                </a:solidFill>
                <a:latin typeface="Calibri"/>
              </a:rPr>
              <a:t> (20+ min)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Medians move the same way (8 → 17), so a few crowded buses are not driving 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Spearman:</a:t>
            </a:r>
            <a:r>
              <a:rPr sz="1400">
                <a:solidFill>
                  <a:srgbClr val="0B0B0B"/>
                </a:solidFill>
                <a:latin typeface="Calibri"/>
              </a:rPr>
              <a:t> rho = </a:t>
            </a:r>
            <a:r>
              <a:rPr sz="1400" b="1">
                <a:solidFill>
                  <a:srgbClr val="0B0B0B"/>
                </a:solidFill>
                <a:latin typeface="Calibri"/>
              </a:rPr>
              <a:t>0.349</a:t>
            </a:r>
            <a:r>
              <a:rPr sz="1400">
                <a:solidFill>
                  <a:srgbClr val="0B0B0B"/>
                </a:solidFill>
                <a:latin typeface="Calibri"/>
              </a:rPr>
              <a:t>, p &lt; 0.001 (n = 51,437)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Kruskal-Wallis:</a:t>
            </a:r>
            <a:r>
              <a:rPr sz="1400">
                <a:solidFill>
                  <a:srgbClr val="0B0B0B"/>
                </a:solidFill>
                <a:latin typeface="Calibri"/>
              </a:rPr>
              <a:t> H = </a:t>
            </a:r>
            <a:r>
              <a:rPr sz="1400" b="1">
                <a:solidFill>
                  <a:srgbClr val="0B0B0B"/>
                </a:solidFill>
                <a:latin typeface="Calibri"/>
              </a:rPr>
              <a:t>5,883.4</a:t>
            </a:r>
            <a:r>
              <a:rPr sz="1400">
                <a:solidFill>
                  <a:srgbClr val="0B0B0B"/>
                </a:solidFill>
                <a:latin typeface="Calibri"/>
              </a:rPr>
              <a:t>, df = 4, p &lt; 0.001 → </a:t>
            </a:r>
            <a:r>
              <a:rPr sz="1400" b="1">
                <a:solidFill>
                  <a:srgbClr val="0B0B0B"/>
                </a:solidFill>
                <a:latin typeface="Calibri"/>
              </a:rPr>
              <a:t>reject H₀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H2: Dwell time vs passengers 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fig07_h2_dwell_vs_boar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29779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7. H2: Dwell time vs passengers 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OLS (n = 116,697): </a:t>
            </a:r>
            <a:r>
              <a:rPr sz="1400" b="1">
                <a:solidFill>
                  <a:srgbClr val="0B0B0B"/>
                </a:solidFill>
                <a:latin typeface="Calibri"/>
              </a:rPr>
              <a:t>dwell = 12.79 + 6.91 × ons + 3.65 × offs</a:t>
            </a:r>
            <a:r>
              <a:rPr sz="1400">
                <a:solidFill>
                  <a:srgbClr val="0B0B0B"/>
                </a:solidFill>
                <a:latin typeface="Calibri"/>
              </a:rPr>
              <a:t> seconds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Each </a:t>
            </a:r>
            <a:r>
              <a:rPr sz="1400" b="1">
                <a:solidFill>
                  <a:srgbClr val="0B0B0B"/>
                </a:solidFill>
                <a:latin typeface="Calibri"/>
              </a:rPr>
              <a:t>boarding adds ~6.9 s</a:t>
            </a:r>
            <a:r>
              <a:rPr sz="1400">
                <a:solidFill>
                  <a:srgbClr val="0B0B0B"/>
                </a:solidFill>
                <a:latin typeface="Calibri"/>
              </a:rPr>
              <a:t>, each alighting ~3.7 s — boarding costs </a:t>
            </a:r>
            <a:r>
              <a:rPr sz="1400" b="1">
                <a:solidFill>
                  <a:srgbClr val="0B0B0B"/>
                </a:solidFill>
                <a:latin typeface="Calibri"/>
              </a:rPr>
              <a:t>1.9×</a:t>
            </a:r>
            <a:r>
              <a:rPr sz="1400">
                <a:solidFill>
                  <a:srgbClr val="0B0B0B"/>
                </a:solidFill>
                <a:latin typeface="Calibri"/>
              </a:rPr>
              <a:t> more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Mean dwell climbs from </a:t>
            </a:r>
            <a:r>
              <a:rPr sz="1400" b="1">
                <a:solidFill>
                  <a:srgbClr val="0B0B0B"/>
                </a:solidFill>
                <a:latin typeface="Calibri"/>
              </a:rPr>
              <a:t>16.9 s</a:t>
            </a:r>
            <a:r>
              <a:rPr sz="1400">
                <a:solidFill>
                  <a:srgbClr val="0B0B0B"/>
                </a:solidFill>
                <a:latin typeface="Calibri"/>
              </a:rPr>
              <a:t> at no boardings to </a:t>
            </a:r>
            <a:r>
              <a:rPr sz="1400" b="1">
                <a:solidFill>
                  <a:srgbClr val="0B0B0B"/>
                </a:solidFill>
                <a:latin typeface="Calibri"/>
              </a:rPr>
              <a:t>111.8 s</a:t>
            </a:r>
            <a:r>
              <a:rPr sz="1400">
                <a:solidFill>
                  <a:srgbClr val="0B0B0B"/>
                </a:solidFill>
                <a:latin typeface="Calibri"/>
              </a:rPr>
              <a:t> at 20 boardings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Both p &lt; 0.001 → </a:t>
            </a:r>
            <a:r>
              <a:rPr sz="1400" b="1">
                <a:solidFill>
                  <a:srgbClr val="0B0B0B"/>
                </a:solidFill>
                <a:latin typeface="Calibri"/>
              </a:rPr>
              <a:t>reject H₀</a:t>
            </a:r>
            <a:r>
              <a:rPr sz="1400">
                <a:solidFill>
                  <a:srgbClr val="0B0B0B"/>
                </a:solidFill>
                <a:latin typeface="Calibri"/>
              </a:rPr>
              <a:t>; R² = 0.180 (traffic and ramps explain the rest)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H3: Headway irregularity along the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fig08_h3_headway_cv_by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0501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>
                <a:solidFill>
                  <a:srgbClr val="52514E"/>
                </a:solidFill>
                <a:latin typeface="Calibri"/>
              </a:rPr>
              <a:t>Figure 8. H3: Headway irregularity along the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1554480"/>
            <a:ext cx="327629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Irregularity = CV (std ÷ mean of headways) per day and stop; 3,382 day × stop cells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Mean CV rises from </a:t>
            </a:r>
            <a:r>
              <a:rPr sz="1400" b="1">
                <a:solidFill>
                  <a:srgbClr val="0B0B0B"/>
                </a:solidFill>
                <a:latin typeface="Calibri"/>
              </a:rPr>
              <a:t>0.39 at stop 2 to 0.58 at stop 28 (+51%)</a:t>
            </a:r>
            <a:r>
              <a:rPr sz="1400">
                <a:solidFill>
                  <a:srgbClr val="0B0B0B"/>
                </a:solidFill>
                <a:latin typeface="Calibri"/>
              </a:rPr>
              <a:t>, peak 0.62 at stop 27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Spearman:</a:t>
            </a:r>
            <a:r>
              <a:rPr sz="1400">
                <a:solidFill>
                  <a:srgbClr val="0B0B0B"/>
                </a:solidFill>
                <a:latin typeface="Calibri"/>
              </a:rPr>
              <a:t> rho = </a:t>
            </a:r>
            <a:r>
              <a:rPr sz="1400" b="1">
                <a:solidFill>
                  <a:srgbClr val="0B0B0B"/>
                </a:solidFill>
                <a:latin typeface="Calibri"/>
              </a:rPr>
              <a:t>0.955</a:t>
            </a:r>
            <a:r>
              <a:rPr sz="1400">
                <a:solidFill>
                  <a:srgbClr val="0B0B0B"/>
                </a:solidFill>
                <a:latin typeface="Calibri"/>
              </a:rPr>
              <a:t>, p &lt; 0.001 (n = 27 stops) → </a:t>
            </a:r>
            <a:r>
              <a:rPr sz="1400" b="1">
                <a:solidFill>
                  <a:srgbClr val="0B0B0B"/>
                </a:solidFill>
                <a:latin typeface="Calibri"/>
              </a:rPr>
              <a:t>reject H₀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The 25th–75th band widens too: bad days get worse further down the 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Discussion: one self-reinforcing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H2 → H1:</a:t>
            </a:r>
            <a:r>
              <a:rPr sz="2000">
                <a:solidFill>
                  <a:srgbClr val="0B0B0B"/>
                </a:solidFill>
                <a:latin typeface="Calibri"/>
              </a:rPr>
              <a:t> more passengers → longer stops (+6.9 s each) → the bus falls behind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H1 → H2:</a:t>
            </a:r>
            <a:r>
              <a:rPr sz="2000">
                <a:solidFill>
                  <a:srgbClr val="0B0B0B"/>
                </a:solidFill>
                <a:latin typeface="Calibri"/>
              </a:rPr>
              <a:t> a bigger gap → more passengers waiting (9.1 → 17.9) → longer stops again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→ H3:</a:t>
            </a:r>
            <a:r>
              <a:rPr sz="2000">
                <a:solidFill>
                  <a:srgbClr val="0B0B0B"/>
                </a:solidFill>
                <a:latin typeface="Calibri"/>
              </a:rPr>
              <a:t> each turn amplifies the last, so spacing gets more uneven downstream (CV 0.39 → 0.58)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Meanwhile the bus behind finds empty stops and catches up — </a:t>
            </a:r>
            <a:r>
              <a:rPr sz="2000" b="1">
                <a:solidFill>
                  <a:srgbClr val="0B0B0B"/>
                </a:solidFill>
                <a:latin typeface="Calibri"/>
              </a:rPr>
              <a:t>that is bunching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Association, not proof of cause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One route, one direction:</a:t>
            </a:r>
            <a:r>
              <a:rPr sz="2000">
                <a:solidFill>
                  <a:srgbClr val="0B0B0B"/>
                </a:solidFill>
                <a:latin typeface="Calibri"/>
              </a:rPr>
              <a:t> 801 southbound, weekdays 7:00–17:59, Jul–Dec 2021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APC counting errors:</a:t>
            </a:r>
            <a:r>
              <a:rPr sz="2000">
                <a:solidFill>
                  <a:srgbClr val="0B0B0B"/>
                </a:solidFill>
                <a:latin typeface="Calibri"/>
              </a:rPr>
              <a:t> sensors miscount at crowded doors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Missing trips:</a:t>
            </a:r>
            <a:r>
              <a:rPr sz="2000">
                <a:solidFill>
                  <a:srgbClr val="0B0B0B"/>
                </a:solidFill>
                <a:latin typeface="Calibri"/>
              </a:rPr>
              <a:t> only headways between buses scheduled 10 min apart were kept (51,437)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What we studied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Data:</a:t>
            </a:r>
            <a:r>
              <a:rPr sz="2000">
                <a:solidFill>
                  <a:srgbClr val="0B0B0B"/>
                </a:solidFill>
                <a:latin typeface="Calibri"/>
              </a:rPr>
              <a:t> CapMetro APC records, Route 801 Rapid southbound, Jul 1 – Dec 30 2021 — </a:t>
            </a:r>
            <a:r>
              <a:rPr sz="2000" b="1">
                <a:solidFill>
                  <a:srgbClr val="0B0B0B"/>
                </a:solidFill>
                <a:latin typeface="Calibri"/>
              </a:rPr>
              <a:t>229,421 stop events</a:t>
            </a:r>
            <a:r>
              <a:rPr sz="2000">
                <a:solidFill>
                  <a:srgbClr val="0B0B0B"/>
                </a:solidFill>
                <a:latin typeface="Calibri"/>
              </a:rPr>
              <a:t>, 29 stops, from 9.2 million raw rows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Window:</a:t>
            </a:r>
            <a:r>
              <a:rPr sz="2000">
                <a:solidFill>
                  <a:srgbClr val="0B0B0B"/>
                </a:solidFill>
                <a:latin typeface="Calibri"/>
              </a:rPr>
              <a:t> weekdays 7:00–17:59, when buses run every 10 min (126,070 events, 131 days)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Cleaning:</a:t>
            </a:r>
            <a:r>
              <a:rPr sz="2000">
                <a:solidFill>
                  <a:srgbClr val="0B0B0B"/>
                </a:solidFill>
                <a:latin typeface="Calibri"/>
              </a:rPr>
              <a:t> six filtering rules, end-stop layovers removed, impossible values imputed (&lt;0.2%), </a:t>
            </a:r>
            <a:r>
              <a:rPr sz="2000" b="1">
                <a:solidFill>
                  <a:srgbClr val="0B0B0B"/>
                </a:solidFill>
                <a:latin typeface="Calibri"/>
              </a:rPr>
              <a:t>51,437 verified headways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Demand is concentrated:</a:t>
            </a:r>
            <a:r>
              <a:rPr sz="2000">
                <a:solidFill>
                  <a:srgbClr val="0B0B0B"/>
                </a:solidFill>
                <a:latin typeface="Calibri"/>
              </a:rPr>
              <a:t> stop 1 ~442 boardings per weekday, stop 5 ~329 (morning), stop 19 ~204 (afternoon)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Commuter pattern:</a:t>
            </a:r>
            <a:r>
              <a:rPr sz="2000">
                <a:solidFill>
                  <a:srgbClr val="0B0B0B"/>
                </a:solidFill>
                <a:latin typeface="Calibri"/>
              </a:rPr>
              <a:t> 2,514 boardings per weekday vs 1,728 per weekend day; peaks at 9:00 and 16:00; 5.7% of arrivals bunched, 10.3% long gaps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H1 — demand follows the gap:</a:t>
            </a:r>
            <a:r>
              <a:rPr sz="2000">
                <a:solidFill>
                  <a:srgbClr val="0B0B0B"/>
                </a:solidFill>
                <a:latin typeface="Calibri"/>
              </a:rPr>
              <a:t> mean load </a:t>
            </a:r>
            <a:r>
              <a:rPr sz="2000" b="1">
                <a:solidFill>
                  <a:srgbClr val="0B0B0B"/>
                </a:solidFill>
                <a:latin typeface="Calibri"/>
              </a:rPr>
              <a:t>9.1 → 17.9 passengers</a:t>
            </a:r>
            <a:r>
              <a:rPr sz="2000">
                <a:solidFill>
                  <a:srgbClr val="0B0B0B"/>
                </a:solidFill>
                <a:latin typeface="Calibri"/>
              </a:rPr>
              <a:t> as headway grows (rho = 0.349, p &lt; 0.001)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H2 — passengers cost time:</a:t>
            </a:r>
            <a:r>
              <a:rPr sz="2000">
                <a:solidFill>
                  <a:srgbClr val="0B0B0B"/>
                </a:solidFill>
                <a:latin typeface="Calibri"/>
              </a:rPr>
              <a:t> </a:t>
            </a:r>
            <a:r>
              <a:rPr sz="2000" b="1">
                <a:solidFill>
                  <a:srgbClr val="0B0B0B"/>
                </a:solidFill>
                <a:latin typeface="Calibri"/>
              </a:rPr>
              <a:t>+6.9 s per boarding</a:t>
            </a:r>
            <a:r>
              <a:rPr sz="2000">
                <a:solidFill>
                  <a:srgbClr val="0B0B0B"/>
                </a:solidFill>
                <a:latin typeface="Calibri"/>
              </a:rPr>
              <a:t>, +3.7 s per alighting (n = 116,697, p &lt; 0.001)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H3 — bunching builds up:</a:t>
            </a:r>
            <a:r>
              <a:rPr sz="2000">
                <a:solidFill>
                  <a:srgbClr val="0B0B0B"/>
                </a:solidFill>
                <a:latin typeface="Calibri"/>
              </a:rPr>
              <a:t> headway irregularity </a:t>
            </a:r>
            <a:r>
              <a:rPr sz="2000" b="1">
                <a:solidFill>
                  <a:srgbClr val="0B0B0B"/>
                </a:solidFill>
                <a:latin typeface="Calibri"/>
              </a:rPr>
              <a:t>CV 0.39 → 0.58</a:t>
            </a:r>
            <a:r>
              <a:rPr sz="2000">
                <a:solidFill>
                  <a:srgbClr val="0B0B0B"/>
                </a:solidFill>
                <a:latin typeface="Calibri"/>
              </a:rPr>
              <a:t> along the route (rho = 0.955, p &lt; 0.001)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All three hypotheses are supported</a:t>
            </a:r>
            <a:r>
              <a:rPr sz="2000">
                <a:solidFill>
                  <a:srgbClr val="0B0B0B"/>
                </a:solidFill>
                <a:latin typeface="Calibri"/>
              </a:rPr>
              <a:t> at alpha = 0.05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00" b="1">
                <a:solidFill>
                  <a:srgbClr val="2A78D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Conclusion and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>
                <a:solidFill>
                  <a:srgbClr val="52514E"/>
                </a:solidFill>
                <a:latin typeface="Calibri"/>
              </a:rPr>
              <a:t>ELE IDSA Project 1 · GEC2B · Group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52514E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The three results close one loop: </a:t>
            </a:r>
            <a:r>
              <a:rPr sz="2000" b="1">
                <a:solidFill>
                  <a:srgbClr val="0B0B0B"/>
                </a:solidFill>
                <a:latin typeface="Calibri"/>
              </a:rPr>
              <a:t>more passengers → longer stops → bigger gap → still more passengers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Route 801 does not hold its 10-minute spacing, and the unevenness is </a:t>
            </a:r>
            <a:r>
              <a:rPr sz="2000" b="1">
                <a:solidFill>
                  <a:srgbClr val="0B0B0B"/>
                </a:solidFill>
                <a:latin typeface="Calibri"/>
              </a:rPr>
              <a:t>worst at the end of the route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The evidence is a strong association, </a:t>
            </a:r>
            <a:r>
              <a:rPr sz="2000" b="1">
                <a:solidFill>
                  <a:srgbClr val="0B0B0B"/>
                </a:solidFill>
                <a:latin typeface="Calibri"/>
              </a:rPr>
              <a:t>not proof of cause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0B0B"/>
                </a:solidFill>
                <a:latin typeface="Calibri"/>
              </a:rPr>
              <a:t>•  </a:t>
            </a:r>
            <a:r>
              <a:rPr sz="2000" b="1">
                <a:solidFill>
                  <a:srgbClr val="0B0B0B"/>
                </a:solidFill>
                <a:latin typeface="Calibri"/>
              </a:rPr>
              <a:t>Recommendation:</a:t>
            </a:r>
            <a:r>
              <a:rPr sz="2000">
                <a:solidFill>
                  <a:srgbClr val="0B0B0B"/>
                </a:solidFill>
                <a:latin typeface="Calibri"/>
              </a:rPr>
              <a:t> break the loop early — </a:t>
            </a:r>
            <a:r>
              <a:rPr sz="2000" b="1">
                <a:solidFill>
                  <a:srgbClr val="0B0B0B"/>
                </a:solidFill>
                <a:latin typeface="Calibri"/>
              </a:rPr>
              <a:t>holding control</a:t>
            </a:r>
            <a:r>
              <a:rPr sz="2000">
                <a:solidFill>
                  <a:srgbClr val="0B0B0B"/>
                </a:solidFill>
                <a:latin typeface="Calibri"/>
              </a:rPr>
              <a:t> at a mid-route timing point, and </a:t>
            </a:r>
            <a:r>
              <a:rPr sz="2000" b="1">
                <a:solidFill>
                  <a:srgbClr val="0B0B0B"/>
                </a:solidFill>
                <a:latin typeface="Calibri"/>
              </a:rPr>
              <a:t>faster boarding</a:t>
            </a:r>
            <a:r>
              <a:rPr sz="2000">
                <a:solidFill>
                  <a:srgbClr val="0B0B0B"/>
                </a:solidFill>
                <a:latin typeface="Calibri"/>
              </a:rPr>
              <a:t> at stops 1, 5 and 19 (all-door boarding or off-board fare payment)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